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52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7955-D94D-D7B2-2CD3-FE49E61E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4E7CD-CA5E-4BA1-8392-AEFE39253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19C81-65AC-8B65-3E47-491A0F6C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A20B6-4EFD-9718-05B0-6FA7B7CD3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7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9683" y="865906"/>
            <a:ext cx="8001000" cy="616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3731" b="1" dirty="0">
                <a:solidFill>
                  <a:srgbClr val="C44848"/>
                </a:solidFill>
              </a:rPr>
              <a:t>Supermarket FreshChoice BV System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571500" y="1566630"/>
            <a:ext cx="8001000" cy="29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924" dirty="0">
                <a:solidFill>
                  <a:srgbClr val="121211"/>
                </a:solidFill>
              </a:rPr>
              <a:t>Structured Solution for Staff and Customers</a:t>
            </a:r>
            <a:endParaRPr lang="en-US" sz="1924" dirty="0"/>
          </a:p>
        </p:txBody>
      </p:sp>
      <p:sp>
        <p:nvSpPr>
          <p:cNvPr id="5" name="Text 2"/>
          <p:cNvSpPr/>
          <p:nvPr/>
        </p:nvSpPr>
        <p:spPr>
          <a:xfrm>
            <a:off x="3163299" y="4494146"/>
            <a:ext cx="5827814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Authors: Roko Mladinić, Daniella Namuli, Simeon Markov, Zed Minabowan &amp; Kristiano Mizher</a:t>
            </a:r>
            <a:endParaRPr lang="en-US" sz="1200" dirty="0"/>
          </a:p>
        </p:txBody>
      </p:sp>
      <p:pic>
        <p:nvPicPr>
          <p:cNvPr id="8" name="Picture 7" descr="A green olives on a branch&#10;&#10;AI-generated content may be incorrect.">
            <a:extLst>
              <a:ext uri="{FF2B5EF4-FFF2-40B4-BE49-F238E27FC236}">
                <a16:creationId xmlns:a16="http://schemas.microsoft.com/office/drawing/2014/main" id="{5A9EFCAA-CC6C-C1B8-9AD9-F662375E3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427" y="1966433"/>
            <a:ext cx="3066779" cy="2422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Project Introduction: The Need for a Structured Design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828675"/>
            <a:ext cx="4929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21211"/>
                </a:solidFill>
              </a:rPr>
              <a:t>From Requirements to Reality: The Design Phase Imperative</a:t>
            </a:r>
            <a:endParaRPr lang="en-US" sz="1499" dirty="0"/>
          </a:p>
        </p:txBody>
      </p:sp>
      <p:sp>
        <p:nvSpPr>
          <p:cNvPr id="5" name="Text 2"/>
          <p:cNvSpPr/>
          <p:nvPr/>
        </p:nvSpPr>
        <p:spPr>
          <a:xfrm>
            <a:off x="514350" y="1459111"/>
            <a:ext cx="1707583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Problem Statement: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7925" y="1610354"/>
            <a:ext cx="4066371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The project required a structured design phase to translate clearly defined requirements and user stories into practical, implementable solutions for FreshChoice.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4350" y="2225907"/>
            <a:ext cx="88896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Core Goal: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2702" y="3339983"/>
            <a:ext cx="4415284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To create a complete system blueprint that guides the development team, ensuring the final product meets the needs of both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4350" y="3087886"/>
            <a:ext cx="83946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Outcome: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4350" y="2409510"/>
            <a:ext cx="4367287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A structured design document covering visual layouts, system architecture, data models, and workflow descriptions, preparing the project for the realization phase.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14963" y="942975"/>
            <a:ext cx="3471863" cy="111442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386388" y="828675"/>
            <a:ext cx="28575" cy="1114425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29263" y="971550"/>
            <a:ext cx="1407437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111827"/>
                </a:solidFill>
              </a:rPr>
              <a:t>Design Phase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529263" y="1200150"/>
            <a:ext cx="3328988" cy="82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The design phase acts as the critical bridge, transforming abstract analysis into a tangible, structured plan before any coding begins.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86388" y="2057400"/>
            <a:ext cx="655629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B91C1C"/>
                </a:solidFill>
              </a:rPr>
              <a:t>Phase 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86388" y="2286000"/>
            <a:ext cx="181376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Analysis &amp; Requirements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92269" y="2045753"/>
            <a:ext cx="737381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B91C1C"/>
                </a:solidFill>
              </a:rPr>
              <a:t>Phase 2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342128" y="2227381"/>
            <a:ext cx="1990956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Structured Design Blueprint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86388" y="2871788"/>
            <a:ext cx="655629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B91C1C"/>
                </a:solidFill>
              </a:rPr>
              <a:t>Phase 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386388" y="3100388"/>
            <a:ext cx="217482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Realization &amp; Implementation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86388" y="3486150"/>
            <a:ext cx="1454694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Key Deliverables: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57838" y="3743325"/>
            <a:ext cx="203876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Visual Layouts (Wireframes)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57838" y="3971925"/>
            <a:ext cx="221592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System Structures (Tech Stack)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57838" y="4200525"/>
            <a:ext cx="228940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Data Models (Database Design)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57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5234382" cy="3024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C44848"/>
                </a:solidFill>
              </a:rPr>
              <a:t>Core Design Philosophy: UI/UX Principles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564" y="771525"/>
            <a:ext cx="4709559" cy="2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21211"/>
                </a:solidFill>
              </a:rPr>
              <a:t>A User-Centric Approach to System Usability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85750" y="1314450"/>
            <a:ext cx="2378869" cy="122872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428750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1525" y="1428750"/>
            <a:ext cx="1320105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C44848"/>
                </a:solidFill>
              </a:rPr>
              <a:t>User-Centric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71525" y="1628775"/>
            <a:ext cx="1778794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Design supports the main tasks of the user (customer or staff) viewing the page.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836069" y="1314450"/>
            <a:ext cx="2378869" cy="122872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369" y="1428750"/>
            <a:ext cx="192881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57550" y="1428750"/>
            <a:ext cx="2021387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D6AE7E"/>
                </a:solidFill>
              </a:rPr>
              <a:t>Simplicity &amp; Clarity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3257550" y="1628775"/>
            <a:ext cx="1843088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Clean pages show only the information needed for the current task to avoid confusion.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285750" y="2714625"/>
            <a:ext cx="2378869" cy="122872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2828925"/>
            <a:ext cx="257175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1525" y="2828925"/>
            <a:ext cx="1258743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6B7280"/>
                </a:solidFill>
              </a:rPr>
              <a:t>Consistency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71525" y="3028950"/>
            <a:ext cx="1778794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All components (colors, fonts, buttons) match the existing FreshChoice website style.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836069" y="2714625"/>
            <a:ext cx="2378869" cy="122872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0369" y="2828925"/>
            <a:ext cx="289322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53991" y="2828925"/>
            <a:ext cx="1718932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10B981"/>
                </a:solidFill>
              </a:rPr>
              <a:t>Visual Hierarchy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3353991" y="3028950"/>
            <a:ext cx="1746647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Important information is highlighted using the FreshChoice color style to guide users naturally.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386388" y="771525"/>
            <a:ext cx="3471863" cy="12573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386388" y="771525"/>
            <a:ext cx="28575" cy="1257300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5500688" y="885825"/>
            <a:ext cx="1134926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111827"/>
                </a:solidFill>
              </a:rPr>
              <a:t>Design Goal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5500688" y="1114425"/>
            <a:ext cx="324326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To translate the system's functional requirements into an intuitive and efficient user experience for both internal staff and external customers.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93544" y="2200275"/>
            <a:ext cx="1880002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1. User-Centric Design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493544" y="2686050"/>
            <a:ext cx="2000548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2. Simplicity and Clarity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493544" y="3171825"/>
            <a:ext cx="1765227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3. Brand Consistency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520132" y="3649663"/>
            <a:ext cx="2065117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4. Effective Visualization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917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5178854" cy="294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C44848"/>
                </a:solidFill>
              </a:rPr>
              <a:t>Key Design Component: Staff Management Tools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42900" y="885825"/>
            <a:ext cx="4498539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Stock Overview: Enabling Fast Decision-Making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50044" y="1235869"/>
            <a:ext cx="5548294" cy="571500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50044" y="1213330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 Name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37103" y="1315921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SKU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24163" y="1213330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Stock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11222" y="1315921"/>
            <a:ext cx="1387115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Status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0044" y="1684817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Organic Bananas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103" y="1787409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FRC-00123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24163" y="1787409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150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11222" y="1787409"/>
            <a:ext cx="1387115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</a:rPr>
              <a:t>In Stock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50044" y="2178844"/>
            <a:ext cx="5548294" cy="5715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0044" y="2156305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Whole Wheat Bread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37103" y="2258896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FRC-00456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124163" y="2258896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11222" y="2258896"/>
            <a:ext cx="1387115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D97706"/>
                </a:solidFill>
              </a:rPr>
              <a:t>Low Stock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0044" y="2627792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Fresh Milk (2L)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737103" y="2730384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FRC-00789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24163" y="2730384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11222" y="2627792"/>
            <a:ext cx="1387115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DC2626"/>
                </a:solidFill>
              </a:rPr>
              <a:t>Restock Needed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50044" y="3121819"/>
            <a:ext cx="5548294" cy="3714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50044" y="2999267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Avocados (Bag)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737103" y="3101859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FRC-01011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124163" y="3101859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80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11222" y="3101859"/>
            <a:ext cx="1387115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59669"/>
                </a:solidFill>
              </a:rPr>
              <a:t>In Stock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50044" y="3370742"/>
            <a:ext cx="1387060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Ground Coffee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737103" y="3473334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FRC-01213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124163" y="3473334"/>
            <a:ext cx="1387060" cy="41139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11222" y="3370742"/>
            <a:ext cx="1387115" cy="61657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DC2626"/>
                </a:solidFill>
              </a:rPr>
              <a:t>Restock Needed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134081" y="971550"/>
            <a:ext cx="2667019" cy="131445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134081" y="885825"/>
            <a:ext cx="28575" cy="1314450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276956" y="1028700"/>
            <a:ext cx="206447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Admin Dashboard Focus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76956" y="1257300"/>
            <a:ext cx="2381269" cy="1025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The dashboard is designed to provide managers with an immediate, high-level operational snapshot of the store.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167485" y="2591783"/>
            <a:ext cx="2178673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BANs</a:t>
            </a:r>
            <a:r>
              <a:rPr lang="en-US" dirty="0">
                <a:solidFill>
                  <a:srgbClr val="000000"/>
                </a:solidFill>
              </a:rPr>
              <a:t> (Big As Numbers)</a:t>
            </a: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67485" y="2984315"/>
            <a:ext cx="1443985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Real-Time</a:t>
            </a:r>
            <a:r>
              <a:rPr lang="en-US" dirty="0">
                <a:solidFill>
                  <a:srgbClr val="000000"/>
                </a:solidFill>
              </a:rPr>
              <a:t> Data</a:t>
            </a: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196060" y="3405853"/>
            <a:ext cx="1977401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Contextual</a:t>
            </a:r>
            <a:r>
              <a:rPr lang="en-US" dirty="0">
                <a:solidFill>
                  <a:srgbClr val="000000"/>
                </a:solidFill>
              </a:rPr>
              <a:t> Feedback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5892319" cy="294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C44848"/>
                </a:solidFill>
              </a:rPr>
              <a:t>Key Design Component: Seamless Customer Experience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42900" y="942975"/>
            <a:ext cx="2705081" cy="15144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42900" y="942975"/>
            <a:ext cx="28575" cy="1514475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5775" y="1085850"/>
            <a:ext cx="1160831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00000"/>
                </a:solidFill>
              </a:rPr>
              <a:t>Key Insight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85775" y="1314450"/>
            <a:ext cx="2419331" cy="1025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The customer-facing design prioritizes ease of use, ensuring a clean, consistent, and mobile-friendly experience for online ordering and pickup.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2900" y="2686050"/>
            <a:ext cx="1311834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Core Features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5775" y="3028950"/>
            <a:ext cx="1255408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Locations Page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5775" y="3314700"/>
            <a:ext cx="1388778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Postcode Search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5775" y="3600450"/>
            <a:ext cx="216219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Appropriate Visualization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5775" y="3886200"/>
            <a:ext cx="1508618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Consistent Layout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31431" y="936578"/>
            <a:ext cx="3424335" cy="2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21211"/>
                </a:solidFill>
              </a:rPr>
              <a:t>Customer Journey: Find &amp; Order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505181" y="1614488"/>
            <a:ext cx="1252528" cy="2286000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844" y="1900238"/>
            <a:ext cx="257175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6631" y="2328863"/>
            <a:ext cx="909628" cy="61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Find Nearest Store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321" y="2630686"/>
            <a:ext cx="225028" cy="2571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83960" y="1543050"/>
            <a:ext cx="1252528" cy="2428875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760" y="171450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27920" y="2327568"/>
            <a:ext cx="909628" cy="61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View Locations Page</a:t>
            </a:r>
            <a:endParaRPr lang="en-US" sz="1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099" y="2616398"/>
            <a:ext cx="225028" cy="25717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262738" y="1700213"/>
            <a:ext cx="1252528" cy="2085975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0401" y="1885950"/>
            <a:ext cx="257175" cy="3429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34188" y="2340710"/>
            <a:ext cx="958698" cy="61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Mobile-First Experience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5199757" cy="3024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C44848"/>
                </a:solidFill>
              </a:rPr>
              <a:t>Technology Stack: Frontend and Backend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85750" y="828675"/>
            <a:ext cx="407451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Frontend: Bootstrap for Responsive Design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1262160" y="1228377"/>
            <a:ext cx="2407444" cy="142875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432" y="1342677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04123" y="1742727"/>
            <a:ext cx="186486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Pre-built Components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76460" y="1942752"/>
            <a:ext cx="2178844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Faster development with ready-to-use elements (navbars, modals, etc.).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85750" y="2800350"/>
            <a:ext cx="1719958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Core Technologies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14350" y="3087886"/>
            <a:ext cx="83798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Bootstrap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14350" y="3345061"/>
            <a:ext cx="36067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CSS: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14350" y="3602236"/>
            <a:ext cx="553037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827"/>
                </a:solidFill>
              </a:rPr>
              <a:t>HTML: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386388" y="828675"/>
            <a:ext cx="34718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21211"/>
                </a:solidFill>
              </a:rPr>
              <a:t>Backend: Blazor Server for Admin Dashboards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386388" y="1457325"/>
            <a:ext cx="3471863" cy="131445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386388" y="1457325"/>
            <a:ext cx="28575" cy="1314450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672137" y="1999026"/>
            <a:ext cx="2818272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111827"/>
                </a:solidFill>
              </a:rPr>
              <a:t>Primary Choice: Blazor Server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400675" y="3135575"/>
            <a:ext cx="132735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B91C1C"/>
                </a:solidFill>
              </a:rPr>
              <a:t>Fast Initial Load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179470" y="3121819"/>
            <a:ext cx="170707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B91C1C"/>
                </a:solidFill>
              </a:rPr>
              <a:t>Server-Side Security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485507" y="3943503"/>
            <a:ext cx="1413144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B91C1C"/>
                </a:solidFill>
              </a:rPr>
              <a:t>Direct DB Access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7260315" y="3924653"/>
            <a:ext cx="152202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B91C1C"/>
                </a:solidFill>
              </a:rPr>
              <a:t>JavaScript Interop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79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5890972" cy="3024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C44848"/>
                </a:solidFill>
              </a:rPr>
              <a:t>Technology Stack: Data Layer and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16728" y="771525"/>
            <a:ext cx="406720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Robust Data Management with SQL Server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22" y="1257300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633" y="1657350"/>
            <a:ext cx="112325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Blazor Server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22607" y="1922685"/>
            <a:ext cx="1310423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Admin Dashboard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762" y="1222632"/>
            <a:ext cx="366676" cy="41905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4822" y="1257300"/>
            <a:ext cx="300038" cy="342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17130" y="1657350"/>
            <a:ext cx="150887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Entity Framework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577722" y="1922685"/>
            <a:ext cx="800797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ORM Layer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803" y="1164113"/>
            <a:ext cx="417881" cy="47757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7394" y="1257300"/>
            <a:ext cx="300038" cy="3429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059799" y="1657350"/>
            <a:ext cx="91999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SQL Server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264484" y="1922685"/>
            <a:ext cx="541815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RDBMS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628650" y="2343150"/>
            <a:ext cx="2609625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111827"/>
                </a:solidFill>
              </a:rPr>
              <a:t>Database Choice Rationale:</a:t>
            </a: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628650" y="2600325"/>
            <a:ext cx="4243388" cy="82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SQL Server Management Studio was chosen for its performance-oriented, production-ready grading, and seamless compatibility with the Microsoft ecosystem (Blazor/Entity Framework).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386388" y="771525"/>
            <a:ext cx="3471863" cy="10572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5386388" y="771525"/>
            <a:ext cx="28575" cy="1057275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5500688" y="885825"/>
            <a:ext cx="1783245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111827"/>
                </a:solidFill>
              </a:rPr>
              <a:t>Core Data Strategy</a:t>
            </a: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5500688" y="1114425"/>
            <a:ext cx="324326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 relational database approach ensures data integrity, fast query processing, and scalability for future growth.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386388" y="2000250"/>
            <a:ext cx="2285947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Key Data Model Entities</a:t>
            </a: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5522921" y="2400300"/>
            <a:ext cx="1307602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Users &amp; Roles</a:t>
            </a: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573919" y="2895693"/>
            <a:ext cx="840358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Products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5528253" y="3391086"/>
            <a:ext cx="1001108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Categories</a:t>
            </a: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5522921" y="3814273"/>
            <a:ext cx="1638525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</a:rPr>
              <a:t>UserRoles (Pivot)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33" y="0"/>
            <a:ext cx="9144000" cy="5800725"/>
          </a:xfrm>
          <a:prstGeom prst="rect">
            <a:avLst/>
          </a:prstGeom>
          <a:solidFill>
            <a:srgbClr val="C44848"/>
          </a:solidFill>
        </p:spPr>
      </p:pic>
      <p:sp>
        <p:nvSpPr>
          <p:cNvPr id="3" name="Text 0"/>
          <p:cNvSpPr/>
          <p:nvPr/>
        </p:nvSpPr>
        <p:spPr>
          <a:xfrm>
            <a:off x="342900" y="342900"/>
            <a:ext cx="4787914" cy="3024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C44848"/>
                </a:solidFill>
              </a:rPr>
              <a:t>System Design: Data Model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42900" y="885825"/>
            <a:ext cx="4103559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Core Entities and Relationships (Simplified)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228600" y="2108803"/>
            <a:ext cx="1127901" cy="558430"/>
          </a:xfrm>
          <a:prstGeom prst="rect">
            <a:avLst/>
          </a:prstGeom>
          <a:solidFill>
            <a:srgbClr val="F9F9F9"/>
          </a:solidFill>
          <a:ln w="9144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397" y="2223626"/>
            <a:ext cx="450000" cy="360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9006" y="2385341"/>
            <a:ext cx="41299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1211"/>
                </a:solidFill>
              </a:rPr>
              <a:t>Users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852" y="2202061"/>
            <a:ext cx="450000" cy="360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08578" y="2000250"/>
            <a:ext cx="510541" cy="24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C44848"/>
                </a:solidFill>
              </a:rPr>
              <a:t>M:M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87462" y="3253418"/>
            <a:ext cx="1294779" cy="489907"/>
          </a:xfrm>
          <a:prstGeom prst="rect">
            <a:avLst/>
          </a:prstGeom>
          <a:solidFill>
            <a:srgbClr val="F9F9F9"/>
          </a:solidFill>
          <a:ln w="9144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242766" y="3321924"/>
            <a:ext cx="1021082" cy="46609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121211"/>
                </a:solidFill>
              </a:rPr>
              <a:t>UserRoles (Pivot)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746384" y="2126472"/>
            <a:ext cx="1277810" cy="540761"/>
          </a:xfrm>
          <a:prstGeom prst="rect">
            <a:avLst/>
          </a:prstGeom>
          <a:solidFill>
            <a:srgbClr val="F9F9F9"/>
          </a:solidFill>
          <a:ln w="9144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4605" y="2184399"/>
            <a:ext cx="450000" cy="360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17301" y="2332877"/>
            <a:ext cx="40081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1211"/>
                </a:solidFill>
              </a:rPr>
              <a:t>Roles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522" y="2636574"/>
            <a:ext cx="485629" cy="647503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128554" y="3253418"/>
            <a:ext cx="1217493" cy="489907"/>
          </a:xfrm>
          <a:prstGeom prst="rect">
            <a:avLst/>
          </a:prstGeom>
          <a:solidFill>
            <a:srgbClr val="F9F9F9"/>
          </a:solidFill>
          <a:ln w="9144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5418" y="3308727"/>
            <a:ext cx="315002" cy="3600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584906" y="3436749"/>
            <a:ext cx="65665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1211"/>
                </a:solidFill>
              </a:rPr>
              <a:t>Products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4224891" y="2061056"/>
            <a:ext cx="37670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dirty="0">
                <a:solidFill>
                  <a:srgbClr val="C44848"/>
                </a:solidFill>
              </a:rPr>
              <a:t>1:M</a:t>
            </a:r>
            <a:endParaRPr lang="en-US" dirty="0"/>
          </a:p>
        </p:txBody>
      </p:sp>
      <p:sp>
        <p:nvSpPr>
          <p:cNvPr id="21" name="Shape 12"/>
          <p:cNvSpPr/>
          <p:nvPr/>
        </p:nvSpPr>
        <p:spPr>
          <a:xfrm>
            <a:off x="4842754" y="2108804"/>
            <a:ext cx="1121292" cy="552980"/>
          </a:xfrm>
          <a:prstGeom prst="rect">
            <a:avLst/>
          </a:prstGeom>
          <a:solidFill>
            <a:srgbClr val="F9F9F9"/>
          </a:solidFill>
          <a:ln w="9144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2394" y="2217753"/>
            <a:ext cx="367479" cy="32664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39873" y="2302211"/>
            <a:ext cx="724173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21211"/>
                </a:solidFill>
              </a:rPr>
              <a:t>Categories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6134081" y="885825"/>
            <a:ext cx="2667019" cy="14001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5"/>
          <p:cNvSpPr/>
          <p:nvPr/>
        </p:nvSpPr>
        <p:spPr>
          <a:xfrm>
            <a:off x="6134081" y="885825"/>
            <a:ext cx="28575" cy="1400175"/>
          </a:xfrm>
          <a:prstGeom prst="rect">
            <a:avLst/>
          </a:prstGeom>
          <a:solidFill>
            <a:srgbClr val="C44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6"/>
          <p:cNvSpPr/>
          <p:nvPr/>
        </p:nvSpPr>
        <p:spPr>
          <a:xfrm>
            <a:off x="6219806" y="971550"/>
            <a:ext cx="265527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Key Insight: Relational Integrity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6219806" y="1200150"/>
            <a:ext cx="2495569" cy="1025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The data model is built on five core entities, ensuring data integrity and enabling complex queries for user management and inventory tracking.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6277402" y="2745523"/>
            <a:ext cx="1307602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Users &amp; Roles</a:t>
            </a:r>
            <a:endParaRPr lang="en-US" dirty="0"/>
          </a:p>
        </p:txBody>
      </p:sp>
      <p:sp>
        <p:nvSpPr>
          <p:cNvPr id="30" name="Text 20"/>
          <p:cNvSpPr/>
          <p:nvPr/>
        </p:nvSpPr>
        <p:spPr>
          <a:xfrm>
            <a:off x="6277402" y="3201326"/>
            <a:ext cx="840358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Products</a:t>
            </a:r>
            <a:endParaRPr lang="en-US" dirty="0"/>
          </a:p>
        </p:txBody>
      </p:sp>
      <p:sp>
        <p:nvSpPr>
          <p:cNvPr id="32" name="Text 22"/>
          <p:cNvSpPr/>
          <p:nvPr/>
        </p:nvSpPr>
        <p:spPr>
          <a:xfrm>
            <a:off x="6277402" y="3728548"/>
            <a:ext cx="1001108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Categories</a:t>
            </a:r>
            <a:endParaRPr lang="en-US" dirty="0"/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E784C66D-A0AC-596E-0E5D-C408A06997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56649">
            <a:off x="403059" y="2745119"/>
            <a:ext cx="586545" cy="839042"/>
          </a:xfrm>
          <a:prstGeom prst="rect">
            <a:avLst/>
          </a:prstGeom>
        </p:spPr>
      </p:pic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CFD790E0-05C5-5974-EC01-9D3EACE887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3215475">
            <a:off x="2465491" y="2614103"/>
            <a:ext cx="586545" cy="839042"/>
          </a:xfrm>
          <a:prstGeom prst="rect">
            <a:avLst/>
          </a:prstGeom>
        </p:spPr>
      </p:pic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B2805AD2-1CD3-B5D9-217D-EDC56B2CC0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160523" y="2220647"/>
            <a:ext cx="485629" cy="647503"/>
          </a:xfrm>
          <a:prstGeom prst="rect">
            <a:avLst/>
          </a:prstGeom>
        </p:spPr>
      </p:pic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E36917BE-6044-BF9F-6EC7-FC7A1C729363}"/>
              </a:ext>
            </a:extLst>
          </p:cNvPr>
          <p:cNvSpPr/>
          <p:nvPr/>
        </p:nvSpPr>
        <p:spPr>
          <a:xfrm rot="19358254">
            <a:off x="4279809" y="3029536"/>
            <a:ext cx="1426789" cy="340651"/>
          </a:xfrm>
          <a:prstGeom prst="leftRightArrow">
            <a:avLst>
              <a:gd name="adj1" fmla="val 30293"/>
              <a:gd name="adj2" fmla="val 58197"/>
            </a:avLst>
          </a:prstGeom>
          <a:solidFill>
            <a:srgbClr val="C4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0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343433" cy="3024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C44848"/>
                </a:solidFill>
              </a:rPr>
              <a:t>Demonstration: Key Functionality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51525" y="1885949"/>
            <a:ext cx="2896455" cy="2196193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19" y="1994625"/>
            <a:ext cx="810001" cy="720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852" y="3166478"/>
            <a:ext cx="2685799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C44848"/>
                </a:solidFill>
              </a:rPr>
              <a:t>Admin Dashboard Overview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6095991" y="942975"/>
            <a:ext cx="2705109" cy="1771650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531" y="1090022"/>
            <a:ext cx="900000" cy="720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68999" y="2095772"/>
            <a:ext cx="2737430" cy="419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D6AE7E"/>
                </a:solidFill>
              </a:rPr>
              <a:t>Proactive Stock Management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3248007" y="1885949"/>
            <a:ext cx="2742655" cy="2196193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6985" y="2051775"/>
            <a:ext cx="810001" cy="720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382777" y="3126024"/>
            <a:ext cx="2473113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6B7280"/>
                </a:solidFill>
              </a:rPr>
              <a:t>Customer Location Search</a:t>
            </a: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6095991" y="2857500"/>
            <a:ext cx="2705109" cy="1771650"/>
          </a:xfrm>
          <a:prstGeom prst="rect">
            <a:avLst/>
          </a:prstGeom>
          <a:solidFill>
            <a:srgbClr val="FEFBF7"/>
          </a:solidFill>
          <a:ln w="18288">
            <a:solidFill>
              <a:srgbClr val="D6A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8531" y="2984045"/>
            <a:ext cx="720000" cy="720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94333" y="3990531"/>
            <a:ext cx="2108395" cy="419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10B981"/>
                </a:solidFill>
              </a:rPr>
              <a:t>Inventory Data Visualization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95662" y="285750"/>
            <a:ext cx="3352648" cy="436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77" b="1" dirty="0">
                <a:solidFill>
                  <a:srgbClr val="C44848"/>
                </a:solidFill>
              </a:rPr>
              <a:t>Enhancement Points</a:t>
            </a:r>
            <a:endParaRPr lang="en-US" sz="3077" dirty="0"/>
          </a:p>
        </p:txBody>
      </p:sp>
      <p:sp>
        <p:nvSpPr>
          <p:cNvPr id="4" name="Text 1"/>
          <p:cNvSpPr/>
          <p:nvPr/>
        </p:nvSpPr>
        <p:spPr>
          <a:xfrm>
            <a:off x="2479073" y="1028700"/>
            <a:ext cx="4185826" cy="240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121211"/>
                </a:solidFill>
              </a:rPr>
              <a:t>Future-Proofing the FreshChoice System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714872" y="1788288"/>
            <a:ext cx="2355004" cy="234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21211"/>
                </a:solidFill>
              </a:rPr>
              <a:t>Key Enhancement Points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85750" y="2357438"/>
            <a:ext cx="233762" cy="285750"/>
          </a:xfrm>
          <a:prstGeom prst="round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511" y="2227626"/>
            <a:ext cx="404999" cy="36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67559" y="2301190"/>
            <a:ext cx="239309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Order Management Module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85750" y="3014663"/>
            <a:ext cx="244087" cy="360000"/>
          </a:xfrm>
          <a:prstGeom prst="round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72" y="2862438"/>
            <a:ext cx="360000" cy="360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27215" y="2931064"/>
            <a:ext cx="166193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Advanced Analytics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285750" y="3671888"/>
            <a:ext cx="192323" cy="285750"/>
          </a:xfrm>
          <a:prstGeom prst="round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872" y="3505745"/>
            <a:ext cx="315001" cy="360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04716" y="3567885"/>
            <a:ext cx="184332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Technology Migration</a:t>
            </a:r>
            <a:endParaRPr lang="en-US" sz="1600" dirty="0"/>
          </a:p>
        </p:txBody>
      </p:sp>
      <p:pic>
        <p:nvPicPr>
          <p:cNvPr id="26" name="Picture 25" descr="A chalkboard with words on it&#10;&#10;AI-generated content may be incorrect.">
            <a:extLst>
              <a:ext uri="{FF2B5EF4-FFF2-40B4-BE49-F238E27FC236}">
                <a16:creationId xmlns:a16="http://schemas.microsoft.com/office/drawing/2014/main" id="{B260ED29-1DA1-6F63-D429-C9794B29A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27" y="1592556"/>
            <a:ext cx="4854426" cy="2731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3BCDB-61E3-FF29-72BD-9BE9716E1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D3D7C0A-0F3C-8CF1-5D88-6CAD17BB8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EB0C9D9-A0EC-8992-25E3-257E1B36FB17}"/>
              </a:ext>
            </a:extLst>
          </p:cNvPr>
          <p:cNvSpPr/>
          <p:nvPr/>
        </p:nvSpPr>
        <p:spPr>
          <a:xfrm>
            <a:off x="682519" y="1950961"/>
            <a:ext cx="8001000" cy="625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4000" b="1" dirty="0">
                <a:solidFill>
                  <a:srgbClr val="C44848"/>
                </a:solidFill>
              </a:rPr>
              <a:t>Thanks For Your Attention!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08359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699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Markov,Simeon S.</cp:lastModifiedBy>
  <cp:revision>4</cp:revision>
  <dcterms:created xsi:type="dcterms:W3CDTF">2025-12-03T23:51:59Z</dcterms:created>
  <dcterms:modified xsi:type="dcterms:W3CDTF">2025-12-04T02:13:21Z</dcterms:modified>
</cp:coreProperties>
</file>