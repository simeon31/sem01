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974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C7D1-7D22-E58B-EF40-6F6438A4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C5145-3323-9FE4-B581-7FB25D294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EE836-AE7E-2542-3D55-85B4CE1C1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E4D70-9E62-E26A-41EB-6762E339B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56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246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0569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495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5763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6828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4345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106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52929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596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7298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6360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90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43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6473" y="1587943"/>
            <a:ext cx="7143750" cy="4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200" b="1" dirty="0" err="1">
                <a:solidFill>
                  <a:srgbClr val="2C3E50"/>
                </a:solidFill>
              </a:rPr>
              <a:t>FoodBridge</a:t>
            </a:r>
            <a:r>
              <a:rPr lang="en-US" sz="3200" b="1" dirty="0">
                <a:solidFill>
                  <a:srgbClr val="2C3E50"/>
                </a:solidFill>
              </a:rPr>
              <a:t>: Food bank System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953176" y="3622206"/>
            <a:ext cx="1237647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By: Simeon Markov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61292" y="3899362"/>
            <a:ext cx="1421415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Institution: Fontys UAS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1960" y="4176517"/>
            <a:ext cx="1460080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Course/Class: ICT/EN08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24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Project Goal and Analysis Scope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00163"/>
            <a:ext cx="1209947" cy="279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Project Goal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1500" y="1743075"/>
            <a:ext cx="3821906" cy="992981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1743075"/>
            <a:ext cx="3821906" cy="81259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Enhance the management process of food bank operations.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0594" y="1300163"/>
            <a:ext cx="2005357" cy="279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Key Areas of Analysis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8486" y="1782244"/>
            <a:ext cx="473104" cy="475181"/>
          </a:xfrm>
          <a:prstGeom prst="ellipse">
            <a:avLst/>
          </a:prstGeom>
          <a:solidFill>
            <a:srgbClr val="F5F5DC"/>
          </a:solidFill>
          <a:ln w="18288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85277" y="1919958"/>
            <a:ext cx="285750" cy="2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7E22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37193" y="1743075"/>
            <a:ext cx="3435307" cy="514350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Targeted Users</a:t>
            </a:r>
            <a:r>
              <a:rPr lang="en-US" sz="1400" dirty="0">
                <a:solidFill>
                  <a:srgbClr val="2C3E50"/>
                </a:solidFill>
              </a:rPr>
              <a:t> (Primary &amp; Secondary Stakeholders)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43500" y="2355613"/>
            <a:ext cx="3458635" cy="514350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Functional Specs</a:t>
            </a:r>
            <a:r>
              <a:rPr lang="en-US" sz="1400" dirty="0">
                <a:solidFill>
                  <a:srgbClr val="2C3E50"/>
                </a:solidFill>
              </a:rPr>
              <a:t> (Core capabilities: Admin &amp; Operations)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43500" y="2986088"/>
            <a:ext cx="3876959" cy="284630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Quality Attributes</a:t>
            </a:r>
            <a:r>
              <a:rPr lang="en-US" sz="1400" dirty="0">
                <a:solidFill>
                  <a:srgbClr val="2C3E50"/>
                </a:solidFill>
              </a:rPr>
              <a:t> (Non-Functional Requirements)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43500" y="3527029"/>
            <a:ext cx="3830536" cy="284630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Technical Stack</a:t>
            </a:r>
            <a:r>
              <a:rPr lang="en-US" sz="1400" dirty="0">
                <a:solidFill>
                  <a:srgbClr val="2C3E50"/>
                </a:solidFill>
              </a:rPr>
              <a:t> (Proposed Frontend and Backend)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154990" y="4112509"/>
            <a:ext cx="3608232" cy="284630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Prioritization</a:t>
            </a:r>
            <a:r>
              <a:rPr lang="en-US" sz="1400" dirty="0">
                <a:solidFill>
                  <a:srgbClr val="2C3E50"/>
                </a:solidFill>
              </a:rPr>
              <a:t> (MoSCoW technique application)</a:t>
            </a:r>
            <a:endParaRPr lang="en-US" sz="14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BB0B0C44-1422-82FB-0E51-C0CA57A918F4}"/>
              </a:ext>
            </a:extLst>
          </p:cNvPr>
          <p:cNvSpPr/>
          <p:nvPr/>
        </p:nvSpPr>
        <p:spPr>
          <a:xfrm>
            <a:off x="4565516" y="2335077"/>
            <a:ext cx="473104" cy="475181"/>
          </a:xfrm>
          <a:prstGeom prst="ellipse">
            <a:avLst/>
          </a:prstGeom>
          <a:solidFill>
            <a:srgbClr val="F5F5DC"/>
          </a:solidFill>
          <a:ln w="18288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F4C16F40-5376-6F5C-CA71-BFF405673560}"/>
              </a:ext>
            </a:extLst>
          </p:cNvPr>
          <p:cNvSpPr/>
          <p:nvPr/>
        </p:nvSpPr>
        <p:spPr>
          <a:xfrm>
            <a:off x="4672307" y="2472791"/>
            <a:ext cx="285750" cy="2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7E22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8990C848-3A7A-80AB-8365-BA3024D2E4D0}"/>
              </a:ext>
            </a:extLst>
          </p:cNvPr>
          <p:cNvSpPr/>
          <p:nvPr/>
        </p:nvSpPr>
        <p:spPr>
          <a:xfrm>
            <a:off x="4562276" y="2934951"/>
            <a:ext cx="473104" cy="475181"/>
          </a:xfrm>
          <a:prstGeom prst="ellipse">
            <a:avLst/>
          </a:prstGeom>
          <a:solidFill>
            <a:srgbClr val="F5F5DC"/>
          </a:solidFill>
          <a:ln w="18288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C84C3848-DE88-4D86-9683-FD8D9142666C}"/>
              </a:ext>
            </a:extLst>
          </p:cNvPr>
          <p:cNvSpPr/>
          <p:nvPr/>
        </p:nvSpPr>
        <p:spPr>
          <a:xfrm>
            <a:off x="4655953" y="3051867"/>
            <a:ext cx="285750" cy="2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7E22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7FEC03F9-3898-8B33-9BA0-8563BD1CB0DD}"/>
              </a:ext>
            </a:extLst>
          </p:cNvPr>
          <p:cNvSpPr/>
          <p:nvPr/>
        </p:nvSpPr>
        <p:spPr>
          <a:xfrm>
            <a:off x="4572000" y="3453395"/>
            <a:ext cx="473104" cy="475181"/>
          </a:xfrm>
          <a:prstGeom prst="ellipse">
            <a:avLst/>
          </a:prstGeom>
          <a:solidFill>
            <a:srgbClr val="F5F5DC"/>
          </a:solidFill>
          <a:ln w="18288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0E52D872-55E9-FF71-A1EB-5C07E2527AB4}"/>
              </a:ext>
            </a:extLst>
          </p:cNvPr>
          <p:cNvSpPr/>
          <p:nvPr/>
        </p:nvSpPr>
        <p:spPr>
          <a:xfrm>
            <a:off x="4665677" y="3570311"/>
            <a:ext cx="285750" cy="2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7E22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0FFB90D3-3E22-1EFA-0115-54BD86B7FAB5}"/>
              </a:ext>
            </a:extLst>
          </p:cNvPr>
          <p:cNvSpPr/>
          <p:nvPr/>
        </p:nvSpPr>
        <p:spPr>
          <a:xfrm>
            <a:off x="4588209" y="4017234"/>
            <a:ext cx="473104" cy="475181"/>
          </a:xfrm>
          <a:prstGeom prst="ellipse">
            <a:avLst/>
          </a:prstGeom>
          <a:solidFill>
            <a:srgbClr val="F5F5DC"/>
          </a:solidFill>
          <a:ln w="18288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4DD87E42-268B-BF3C-330C-C737EB4FA96B}"/>
              </a:ext>
            </a:extLst>
          </p:cNvPr>
          <p:cNvSpPr/>
          <p:nvPr/>
        </p:nvSpPr>
        <p:spPr>
          <a:xfrm>
            <a:off x="4681886" y="4134150"/>
            <a:ext cx="285750" cy="2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7E22"/>
                </a:solidFill>
              </a:rPr>
              <a:t>5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5"/>
            <a:ext cx="9144000" cy="51935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System Users and Core Functionality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00163"/>
            <a:ext cx="1772921" cy="285912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2C3E50"/>
                </a:solidFill>
              </a:rPr>
              <a:t>Targeted Users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1500" y="1778794"/>
            <a:ext cx="209672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151"/>
                </a:solidFill>
              </a:rPr>
              <a:t>Primary Stakeholders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" y="2064544"/>
            <a:ext cx="1240340" cy="215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Inventory Staff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1500" y="2383155"/>
            <a:ext cx="1917384" cy="215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Volunteer Coordinator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7895" y="2759133"/>
            <a:ext cx="231954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151"/>
                </a:solidFill>
              </a:rPr>
              <a:t>Secondary Stakeholders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1500" y="3050381"/>
            <a:ext cx="903774" cy="215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Volunteers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1500" y="3350419"/>
            <a:ext cx="620363" cy="215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Donors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50594" y="1300163"/>
            <a:ext cx="2537811" cy="285912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2C3E50"/>
                </a:solidFill>
              </a:rPr>
              <a:t>Core Functional Areas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50594" y="1778794"/>
            <a:ext cx="464344" cy="454905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0594" y="1919778"/>
            <a:ext cx="464344" cy="21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52098" y="1873278"/>
            <a:ext cx="1524969" cy="225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Admin Dashboard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52098" y="2414371"/>
            <a:ext cx="2150653" cy="225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Operational Management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52098" y="2958003"/>
            <a:ext cx="1636538" cy="225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Analytics &amp; Insights</a:t>
            </a:r>
            <a:endParaRPr lang="en-US" sz="14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68A0CFAA-F5D5-51DA-B966-FFD9A30F480A}"/>
              </a:ext>
            </a:extLst>
          </p:cNvPr>
          <p:cNvSpPr/>
          <p:nvPr/>
        </p:nvSpPr>
        <p:spPr>
          <a:xfrm>
            <a:off x="4746246" y="2336489"/>
            <a:ext cx="464344" cy="454905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FF703FA9-B3EC-A905-7627-FF04101A47C7}"/>
              </a:ext>
            </a:extLst>
          </p:cNvPr>
          <p:cNvSpPr/>
          <p:nvPr/>
        </p:nvSpPr>
        <p:spPr>
          <a:xfrm>
            <a:off x="4746246" y="2477473"/>
            <a:ext cx="464344" cy="21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510D2362-C326-AF68-87FA-FE7F3A3A6878}"/>
              </a:ext>
            </a:extLst>
          </p:cNvPr>
          <p:cNvSpPr/>
          <p:nvPr/>
        </p:nvSpPr>
        <p:spPr>
          <a:xfrm>
            <a:off x="4754826" y="2913807"/>
            <a:ext cx="464344" cy="454905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2295F78B-D45A-B1D2-6A86-F6DAD0DB466B}"/>
              </a:ext>
            </a:extLst>
          </p:cNvPr>
          <p:cNvSpPr/>
          <p:nvPr/>
        </p:nvSpPr>
        <p:spPr>
          <a:xfrm>
            <a:off x="4754826" y="3054791"/>
            <a:ext cx="464344" cy="21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Critical System Requirements (Must-Have)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71500" y="2371725"/>
            <a:ext cx="2547919" cy="1485816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2371725"/>
            <a:ext cx="2547919" cy="154356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Must-Have: Requirements that are fundamental and non-negotiable. The system cannot be delivered without them.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6606" y="1300163"/>
            <a:ext cx="497718" cy="367903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76606" y="1660922"/>
            <a:ext cx="497718" cy="7144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6606" y="1290536"/>
            <a:ext cx="550628" cy="38715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Ref.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74325" y="1300163"/>
            <a:ext cx="1142442" cy="367903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974325" y="1660922"/>
            <a:ext cx="1142442" cy="7144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974325" y="1290536"/>
            <a:ext cx="1142442" cy="38715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Role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16767" y="1300163"/>
            <a:ext cx="1691422" cy="367903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116767" y="1660922"/>
            <a:ext cx="1691422" cy="7144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16766" y="1290536"/>
            <a:ext cx="1904519" cy="38715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Story Summary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08189" y="1300163"/>
            <a:ext cx="1764311" cy="367903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808189" y="1660922"/>
            <a:ext cx="1764311" cy="7144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08189" y="1290536"/>
            <a:ext cx="1904519" cy="38715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Value/Benefit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76605" y="1763121"/>
            <a:ext cx="631663" cy="40639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US-1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4325" y="1763121"/>
            <a:ext cx="1142442" cy="40639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Staff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116767" y="1654117"/>
            <a:ext cx="1691422" cy="62440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Manage food inventory (CRUD).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08189" y="1654117"/>
            <a:ext cx="1764311" cy="62440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Efficient resource management.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476606" y="2268141"/>
            <a:ext cx="5095894" cy="6072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6" name="Text 23"/>
          <p:cNvSpPr/>
          <p:nvPr/>
        </p:nvSpPr>
        <p:spPr>
          <a:xfrm>
            <a:off x="3402825" y="2368554"/>
            <a:ext cx="571499" cy="40639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US-2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974325" y="2368554"/>
            <a:ext cx="1142442" cy="40639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Staff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16767" y="2259550"/>
            <a:ext cx="1691422" cy="62440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Link donations to donors.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8189" y="2268141"/>
            <a:ext cx="1764311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Improves donor reporting.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402825" y="2975772"/>
            <a:ext cx="571499" cy="40639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US-3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974325" y="2975772"/>
            <a:ext cx="1142442" cy="40639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Administrator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116767" y="2866768"/>
            <a:ext cx="1691422" cy="62440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Manage user roles and resources.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08189" y="2866768"/>
            <a:ext cx="1764311" cy="62440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Ensures administrative control.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476606" y="3482578"/>
            <a:ext cx="5095894" cy="6072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76606" y="3473987"/>
            <a:ext cx="497718" cy="62440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US-4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974325" y="3582991"/>
            <a:ext cx="1142442" cy="40639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Coordinator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116767" y="3473987"/>
            <a:ext cx="1691422" cy="62440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Schedule volunteer shifts (CRUD).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08189" y="3473987"/>
            <a:ext cx="1764311" cy="62440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Optimizes volunteer allocation.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1287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52876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11287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System Quality Attributes (Non-Functional Requirements)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35015" y="1725010"/>
            <a:ext cx="428625" cy="460773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30" y="1825228"/>
            <a:ext cx="261194" cy="2321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9726" y="1778187"/>
            <a:ext cx="1240917" cy="279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DADE2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35015" y="2668445"/>
            <a:ext cx="428625" cy="460773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41" y="2811320"/>
            <a:ext cx="232172" cy="2321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9726" y="2787496"/>
            <a:ext cx="976229" cy="279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DADE2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638236" y="1778187"/>
            <a:ext cx="428625" cy="46077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901" y="1903809"/>
            <a:ext cx="155989" cy="2495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12441" y="1833071"/>
            <a:ext cx="841577" cy="279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DADE2"/>
                </a:solidFill>
              </a:rPr>
              <a:t>Usability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4652368" y="2623491"/>
            <a:ext cx="428624" cy="460773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9792" y="2728869"/>
            <a:ext cx="193775" cy="221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31052" y="2750790"/>
            <a:ext cx="795089" cy="279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DADE2"/>
                </a:solidFill>
              </a:rPr>
              <a:t>Security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Proposed Technical Stack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00163"/>
            <a:ext cx="2909836" cy="27982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67E22"/>
                </a:solidFill>
              </a:rPr>
              <a:t>Frontend (Designing &amp; Tools)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1500" y="1685925"/>
            <a:ext cx="1243208" cy="34290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1685925"/>
            <a:ext cx="983667" cy="33823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 18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1500" y="2378869"/>
            <a:ext cx="1248510" cy="34290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7267" y="2374203"/>
            <a:ext cx="1352743" cy="33823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Tailwind CSS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1500" y="3071813"/>
            <a:ext cx="1243208" cy="34290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5215" y="3053929"/>
            <a:ext cx="1000082" cy="33823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Recharts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6802" y="3742207"/>
            <a:ext cx="1243208" cy="34290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5402" y="3744540"/>
            <a:ext cx="1094402" cy="33823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50594" y="1300163"/>
            <a:ext cx="3633046" cy="27982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67E22"/>
                </a:solidFill>
              </a:rPr>
              <a:t>Backend (Software &amp; Infrastructure)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750594" y="1685925"/>
            <a:ext cx="1457520" cy="34290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64309" y="1668041"/>
            <a:ext cx="1652888" cy="33823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ASP.NET Core 8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0594" y="2586038"/>
            <a:ext cx="1457520" cy="34290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664309" y="2568154"/>
            <a:ext cx="1245084" cy="33823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SQL Server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739194" y="3486150"/>
            <a:ext cx="1480319" cy="34290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7" name="Text 24"/>
          <p:cNvSpPr/>
          <p:nvPr/>
        </p:nvSpPr>
        <p:spPr>
          <a:xfrm>
            <a:off x="4750594" y="3486150"/>
            <a:ext cx="1480319" cy="342900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C# &amp; JavaScript</a:t>
            </a:r>
            <a:endParaRPr lang="en-US" sz="1193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Requirements Prioritization: MoSCoW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28725"/>
            <a:ext cx="7200900" cy="48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The MoSCoW technique ensures core functionality is delivered first, guiding the initial development roadmap.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5072" y="1985963"/>
            <a:ext cx="1598749" cy="432197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1973217"/>
            <a:ext cx="1598749" cy="457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Priority Level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73821" y="1985963"/>
            <a:ext cx="2398151" cy="432197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170249" y="1973217"/>
            <a:ext cx="2398151" cy="457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Stories (Ref.)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1972" y="1985963"/>
            <a:ext cx="3996956" cy="432197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1972" y="1973217"/>
            <a:ext cx="3996956" cy="457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5072" y="2418159"/>
            <a:ext cx="7993856" cy="621506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5072" y="2418159"/>
            <a:ext cx="1598749" cy="621506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5072" y="2504876"/>
            <a:ext cx="1598749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Must Have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173821" y="2418159"/>
            <a:ext cx="2398151" cy="621506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73821" y="2504876"/>
            <a:ext cx="2398151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US-1, US-2, US-3, US-4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1972" y="2418159"/>
            <a:ext cx="3996956" cy="621506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1972" y="2402284"/>
            <a:ext cx="3996956" cy="6532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Essential for initial system operation (Non-negotiable).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5072" y="3032522"/>
            <a:ext cx="7993856" cy="42148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5072" y="3019227"/>
            <a:ext cx="1598749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Should Have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173821" y="3032522"/>
            <a:ext cx="2398151" cy="42148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US-5, US-6, US-7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1972" y="3019227"/>
            <a:ext cx="3996956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Important, but not vital; can be realized in later phases.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5072" y="3540720"/>
            <a:ext cx="1598749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Could Have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173821" y="3540720"/>
            <a:ext cx="2398151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US-9, US-10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1972" y="3540720"/>
            <a:ext cx="3996956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Desirable features; can be postponed without major impact.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75072" y="4075509"/>
            <a:ext cx="7993856" cy="42148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8" name="Text 25"/>
          <p:cNvSpPr/>
          <p:nvPr/>
        </p:nvSpPr>
        <p:spPr>
          <a:xfrm>
            <a:off x="575072" y="4062214"/>
            <a:ext cx="1598749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Will/Wish Have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173821" y="4062214"/>
            <a:ext cx="2398151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US-8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1972" y="4062214"/>
            <a:ext cx="3996956" cy="4480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Lowest priority; considered for future phases.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40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Conclusion and Outlook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00163"/>
            <a:ext cx="8001000" cy="152586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5813" y="1514475"/>
            <a:ext cx="75723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The FoodBridge system is defined by Admin Dashboard and Operational Management functions. It uses a robust technical stack: React/Tailwind (Frontend) and ASP.NET Core 8/SQL Server (Backend). Prioritization focuses on core inventory and scheduling functions for initial development.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1500" y="3111773"/>
            <a:ext cx="8001000" cy="30003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Next Steps</a:t>
            </a:r>
            <a:endParaRPr lang="en-US" sz="1397" dirty="0"/>
          </a:p>
        </p:txBody>
      </p:sp>
      <p:sp>
        <p:nvSpPr>
          <p:cNvPr id="9" name="Shape 6"/>
          <p:cNvSpPr/>
          <p:nvPr/>
        </p:nvSpPr>
        <p:spPr>
          <a:xfrm>
            <a:off x="1595428" y="3590404"/>
            <a:ext cx="428625" cy="428625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595428" y="3590404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571500" y="4126185"/>
            <a:ext cx="247648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Finalize system design based on these requirements and technical specifications.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8315" y="3590404"/>
            <a:ext cx="428625" cy="428625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62961" y="3653661"/>
            <a:ext cx="99386" cy="273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2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3692426" y="4105077"/>
            <a:ext cx="3237420" cy="642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Plan for future integration of Should-Have and Could-Have features in subsequent development phases.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12BD-BA30-248A-EF21-3CB0F19B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B366BF6-5233-444A-0587-E7DF0015F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5444FC8-1EB9-3DEA-A392-43A8A6813D8E}"/>
              </a:ext>
            </a:extLst>
          </p:cNvPr>
          <p:cNvSpPr/>
          <p:nvPr/>
        </p:nvSpPr>
        <p:spPr>
          <a:xfrm>
            <a:off x="1000125" y="2571750"/>
            <a:ext cx="7143750" cy="458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4000" b="1" dirty="0">
                <a:solidFill>
                  <a:srgbClr val="2C3E50"/>
                </a:solidFill>
              </a:rPr>
              <a:t>Thanks For Your Attention!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8933003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97</TotalTime>
  <Words>426</Words>
  <Application>Microsoft Office PowerPoint</Application>
  <PresentationFormat>On-screen Show (16:9)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Markov,Simeon S.</cp:lastModifiedBy>
  <cp:revision>5</cp:revision>
  <dcterms:created xsi:type="dcterms:W3CDTF">2025-12-05T06:36:00Z</dcterms:created>
  <dcterms:modified xsi:type="dcterms:W3CDTF">2025-12-05T08:14:30Z</dcterms:modified>
</cp:coreProperties>
</file>